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9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59" r:id="rId9"/>
    <p:sldId id="260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D563-12AC-48F9-9F19-047210B85BEA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E1C8F-421F-48F5-886F-B146D9AFF8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97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D563-12AC-48F9-9F19-047210B85BEA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E1C8F-421F-48F5-886F-B146D9AFF8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532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D563-12AC-48F9-9F19-047210B85BEA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E1C8F-421F-48F5-886F-B146D9AFF8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067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D563-12AC-48F9-9F19-047210B85BEA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E1C8F-421F-48F5-886F-B146D9AFF8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645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D563-12AC-48F9-9F19-047210B85BEA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E1C8F-421F-48F5-886F-B146D9AFF8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952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D563-12AC-48F9-9F19-047210B85BEA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E1C8F-421F-48F5-886F-B146D9AFF8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394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D563-12AC-48F9-9F19-047210B85BEA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E1C8F-421F-48F5-886F-B146D9AFF8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78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D563-12AC-48F9-9F19-047210B85BEA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E1C8F-421F-48F5-886F-B146D9AFF8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679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D563-12AC-48F9-9F19-047210B85BEA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E1C8F-421F-48F5-886F-B146D9AFF8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779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D563-12AC-48F9-9F19-047210B85BEA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E1C8F-421F-48F5-886F-B146D9AFF8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600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D563-12AC-48F9-9F19-047210B85BEA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E1C8F-421F-48F5-886F-B146D9AFF806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79187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D563-12AC-48F9-9F19-047210B85BEA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E1C8F-421F-48F5-886F-B146D9AFF8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621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D563-12AC-48F9-9F19-047210B85BEA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E1C8F-421F-48F5-886F-B146D9AFF806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487074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D563-12AC-48F9-9F19-047210B85BEA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E1C8F-421F-48F5-886F-B146D9AFF8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8506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D563-12AC-48F9-9F19-047210B85BEA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E1C8F-421F-48F5-886F-B146D9AFF8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6177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D563-12AC-48F9-9F19-047210B85BEA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E1C8F-421F-48F5-886F-B146D9AFF8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385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AD563-12AC-48F9-9F19-047210B85BEA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B9E1C8F-421F-48F5-886F-B146D9AFF8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02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  <p:sldLayoutId id="2147483803" r:id="rId14"/>
    <p:sldLayoutId id="2147483804" r:id="rId15"/>
    <p:sldLayoutId id="21474838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B54A2-34CD-AFDD-3670-A758C57763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9144000" cy="2387600"/>
          </a:xfrm>
        </p:spPr>
        <p:txBody>
          <a:bodyPr>
            <a:normAutofit/>
          </a:bodyPr>
          <a:lstStyle/>
          <a:p>
            <a:r>
              <a:rPr lang="en-US" b="1" dirty="0"/>
              <a:t>DIGITAL IMAGE PROCESSING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68220E-A3F2-6815-9ADA-0CF51F0822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IN" dirty="0"/>
              <a:t>			</a:t>
            </a:r>
          </a:p>
          <a:p>
            <a:r>
              <a:rPr lang="en-IN" dirty="0"/>
              <a:t>						BATCH: 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355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91F2E3-7CA0-3F91-1F8D-DA03FDB0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DIGITAL IMAGE PROCESSING?</a:t>
            </a:r>
            <a:endParaRPr lang="en-IN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A56252-50D2-6099-1AB8-D55C3132E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Digital image processing (DIP)</a:t>
            </a:r>
            <a:r>
              <a:rPr lang="en-IN" dirty="0"/>
              <a:t> is the use of computer to process images.</a:t>
            </a:r>
          </a:p>
          <a:p>
            <a:r>
              <a:rPr lang="en-IN" dirty="0"/>
              <a:t>It involves manipulation of digital images through algorithms.</a:t>
            </a:r>
          </a:p>
          <a:p>
            <a:r>
              <a:rPr lang="en-IN" dirty="0"/>
              <a:t>Used to improve image quality or extract information.</a:t>
            </a:r>
          </a:p>
        </p:txBody>
      </p:sp>
    </p:spTree>
    <p:extLst>
      <p:ext uri="{BB962C8B-B14F-4D97-AF65-F5344CB8AC3E}">
        <p14:creationId xmlns:p14="http://schemas.microsoft.com/office/powerpoint/2010/main" val="379633697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53B7-40F0-827C-CCB3-5884D1715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7275" y="664953"/>
            <a:ext cx="10515600" cy="1325563"/>
          </a:xfrm>
        </p:spPr>
        <p:txBody>
          <a:bodyPr/>
          <a:lstStyle/>
          <a:p>
            <a:r>
              <a:rPr lang="en-US" b="1" dirty="0"/>
              <a:t>TYPES OF IMAGES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9046C-3F28-A80B-DCBE-69EC23A08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Binary image (black and white)</a:t>
            </a:r>
            <a:r>
              <a:rPr lang="en-IN" dirty="0"/>
              <a:t>.</a:t>
            </a:r>
          </a:p>
          <a:p>
            <a:r>
              <a:rPr lang="en-IN" dirty="0"/>
              <a:t>Grayscale image.</a:t>
            </a:r>
          </a:p>
          <a:p>
            <a:r>
              <a:rPr lang="en-IN" dirty="0"/>
              <a:t>Colour image(RGB).</a:t>
            </a:r>
          </a:p>
          <a:p>
            <a:r>
              <a:rPr lang="en-IN" dirty="0"/>
              <a:t>Multispectral images.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38086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31A1E-8BEB-820F-84DF-AD3554DFC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1203" y="671401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 WHAT IS BINARY IMAGE?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578B6-7305-9FEF-23F8-79C2C8BDA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315" y="242201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A binary image is a type of digital image that contains only two pixel values:</a:t>
            </a:r>
          </a:p>
          <a:p>
            <a:r>
              <a:rPr lang="en-US" dirty="0"/>
              <a:t>0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black</a:t>
            </a:r>
          </a:p>
          <a:p>
            <a:r>
              <a:rPr lang="en-US" dirty="0"/>
              <a:t>1 </a:t>
            </a:r>
            <a:r>
              <a:rPr lang="en-US" dirty="0">
                <a:sym typeface="Wingdings" panose="05000000000000000000" pitchFamily="2" charset="2"/>
              </a:rPr>
              <a:t>white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 So each pixel can be either black or white with no gray or color.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EXAMPLE: binary image matrix example.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			1  1  0  0  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			1  0  0  1</a:t>
            </a:r>
          </a:p>
          <a:p>
            <a:pPr marL="0" indent="0">
              <a:buNone/>
            </a:pPr>
            <a:r>
              <a:rPr lang="en-US" b="1" dirty="0"/>
              <a:t>			 	</a:t>
            </a:r>
            <a:r>
              <a:rPr lang="en-US" dirty="0"/>
              <a:t>1  1  0  0</a:t>
            </a:r>
            <a:endParaRPr lang="en-US" b="1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9" name="Double Bracket 8">
            <a:extLst>
              <a:ext uri="{FF2B5EF4-FFF2-40B4-BE49-F238E27FC236}">
                <a16:creationId xmlns:a16="http://schemas.microsoft.com/office/drawing/2014/main" id="{61DC2545-A9F2-88BE-67F6-3996FF52B174}"/>
              </a:ext>
            </a:extLst>
          </p:cNvPr>
          <p:cNvSpPr/>
          <p:nvPr/>
        </p:nvSpPr>
        <p:spPr>
          <a:xfrm>
            <a:off x="4242216" y="5329015"/>
            <a:ext cx="1469036" cy="1444340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36460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4920B-F663-4AB0-609F-32E30F7F3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9334" y="973668"/>
            <a:ext cx="8761413" cy="706964"/>
          </a:xfrm>
        </p:spPr>
        <p:txBody>
          <a:bodyPr/>
          <a:lstStyle/>
          <a:p>
            <a:r>
              <a:rPr lang="en-US" b="1" dirty="0"/>
              <a:t>WHAT IS GRAYSCLAE IMAGE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B8BD0-4EED-B1F8-E34A-5523B9D0E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grayscale image is an image that contains only shades of gray without any color.</a:t>
            </a:r>
          </a:p>
          <a:p>
            <a:pPr marL="0" indent="0">
              <a:buNone/>
            </a:pPr>
            <a:r>
              <a:rPr lang="en-US" b="1" dirty="0"/>
              <a:t>KEY POINTS</a:t>
            </a:r>
            <a:r>
              <a:rPr lang="en-US" dirty="0"/>
              <a:t>:</a:t>
            </a:r>
          </a:p>
          <a:p>
            <a:r>
              <a:rPr lang="en-US" dirty="0"/>
              <a:t>It use Black, white and gray tones</a:t>
            </a:r>
          </a:p>
          <a:p>
            <a:r>
              <a:rPr lang="en-US" dirty="0"/>
              <a:t>Pixel value usually range from o(black) to 255(white)</a:t>
            </a:r>
          </a:p>
          <a:p>
            <a:pPr marL="0" indent="0">
              <a:buNone/>
            </a:pPr>
            <a:r>
              <a:rPr lang="en-US" b="1" dirty="0"/>
              <a:t>EXAMPLE: </a:t>
            </a:r>
          </a:p>
          <a:p>
            <a:r>
              <a:rPr lang="en-US" dirty="0"/>
              <a:t>0 </a:t>
            </a:r>
            <a:r>
              <a:rPr lang="en-US" dirty="0">
                <a:sym typeface="Wingdings" panose="05000000000000000000" pitchFamily="2" charset="2"/>
              </a:rPr>
              <a:t>black</a:t>
            </a:r>
          </a:p>
          <a:p>
            <a:r>
              <a:rPr lang="en-US" dirty="0">
                <a:sym typeface="Wingdings" panose="05000000000000000000" pitchFamily="2" charset="2"/>
              </a:rPr>
              <a:t>128 medium gray</a:t>
            </a:r>
          </a:p>
          <a:p>
            <a:r>
              <a:rPr lang="en-US" dirty="0">
                <a:sym typeface="Wingdings" panose="05000000000000000000" pitchFamily="2" charset="2"/>
              </a:rPr>
              <a:t>255 white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08123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6AC3A-BAA2-C4C0-EE2E-B6DAD5E2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3891" y="988658"/>
            <a:ext cx="8761413" cy="706964"/>
          </a:xfrm>
        </p:spPr>
        <p:txBody>
          <a:bodyPr/>
          <a:lstStyle/>
          <a:p>
            <a:r>
              <a:rPr lang="en-US" b="1" dirty="0"/>
              <a:t>WHAT IS COLOR IMAGE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72CD1-5BC6-08D6-CDF4-B46ABE71F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color image is an image that contains different color instead of only shades of gray</a:t>
            </a:r>
          </a:p>
          <a:p>
            <a:pPr marL="0" indent="0">
              <a:buNone/>
            </a:pPr>
            <a:r>
              <a:rPr lang="en-US" b="1" dirty="0"/>
              <a:t>KEY POINTS:</a:t>
            </a:r>
          </a:p>
          <a:p>
            <a:r>
              <a:rPr lang="en-US" dirty="0"/>
              <a:t>It used color channels like RGB(red, green, blue)</a:t>
            </a:r>
          </a:p>
          <a:p>
            <a:r>
              <a:rPr lang="en-US" dirty="0"/>
              <a:t>Each pixel has 3 value (R,G,B)</a:t>
            </a:r>
          </a:p>
          <a:p>
            <a:r>
              <a:rPr lang="en-US" dirty="0"/>
              <a:t>Each value usually ranges from 0 to 255</a:t>
            </a:r>
          </a:p>
          <a:p>
            <a:pPr marL="0" indent="0">
              <a:buNone/>
            </a:pPr>
            <a:r>
              <a:rPr lang="en-US" b="1" dirty="0"/>
              <a:t>SIMPLE EXAMPLE:</a:t>
            </a:r>
          </a:p>
          <a:p>
            <a:r>
              <a:rPr lang="en-US" dirty="0"/>
              <a:t>(225,0,0) </a:t>
            </a:r>
            <a:r>
              <a:rPr lang="en-US" dirty="0">
                <a:sym typeface="Wingdings" panose="05000000000000000000" pitchFamily="2" charset="2"/>
              </a:rPr>
              <a:t>red</a:t>
            </a:r>
          </a:p>
          <a:p>
            <a:r>
              <a:rPr lang="en-US" dirty="0"/>
              <a:t>(0,0,255) </a:t>
            </a:r>
            <a:r>
              <a:rPr lang="en-US" dirty="0">
                <a:sym typeface="Wingdings" panose="05000000000000000000" pitchFamily="2" charset="2"/>
              </a:rPr>
              <a:t>green</a:t>
            </a:r>
          </a:p>
          <a:p>
            <a:r>
              <a:rPr lang="en-US" dirty="0"/>
              <a:t>(0,0,255)  </a:t>
            </a:r>
            <a:r>
              <a:rPr lang="en-US" dirty="0">
                <a:sym typeface="Wingdings" panose="05000000000000000000" pitchFamily="2" charset="2"/>
              </a:rPr>
              <a:t>blue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460789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3E32B-8484-460A-F473-33A916C30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2580" y="679944"/>
            <a:ext cx="10515600" cy="1325563"/>
          </a:xfrm>
        </p:spPr>
        <p:txBody>
          <a:bodyPr/>
          <a:lstStyle/>
          <a:p>
            <a:r>
              <a:rPr lang="en-US" b="1" dirty="0"/>
              <a:t>WHAT IS MULTISPECTRAL IMAGE 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69BF7-B613-5C65-3BF2-17D257D65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multispectral image is an image that captures data at multiple wavelengths (bands) of light not just visible colors.</a:t>
            </a:r>
          </a:p>
          <a:p>
            <a:pPr marL="0" indent="0">
              <a:buNone/>
            </a:pPr>
            <a:r>
              <a:rPr lang="en-US" b="1" dirty="0"/>
              <a:t>KEY POINTS:</a:t>
            </a:r>
          </a:p>
          <a:p>
            <a:r>
              <a:rPr lang="en-US" dirty="0"/>
              <a:t>Uses several spectral bands (like visible + infrared)</a:t>
            </a:r>
          </a:p>
          <a:p>
            <a:r>
              <a:rPr lang="en-US" dirty="0"/>
              <a:t>Each pixel contains more information than a normal color image </a:t>
            </a:r>
          </a:p>
          <a:p>
            <a:pPr marL="0" indent="0">
              <a:buNone/>
            </a:pPr>
            <a:r>
              <a:rPr lang="en-US" b="1" dirty="0"/>
              <a:t> EXAMPLE BANDS:</a:t>
            </a:r>
          </a:p>
          <a:p>
            <a:r>
              <a:rPr lang="en-US" dirty="0"/>
              <a:t>Red ,Green, Blue(visible)</a:t>
            </a:r>
          </a:p>
          <a:p>
            <a:r>
              <a:rPr lang="en-US" dirty="0"/>
              <a:t>Infrared(1R)</a:t>
            </a:r>
          </a:p>
          <a:p>
            <a:r>
              <a:rPr lang="en-US" dirty="0"/>
              <a:t>Ultraviolet(UV)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750651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BDC6E-01A5-A995-74DE-BF13E98F9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40305" y="814830"/>
            <a:ext cx="10515600" cy="1325563"/>
          </a:xfrm>
        </p:spPr>
        <p:txBody>
          <a:bodyPr/>
          <a:lstStyle/>
          <a:p>
            <a:r>
              <a:rPr lang="en-US" dirty="0"/>
              <a:t>                   </a:t>
            </a:r>
            <a:r>
              <a:rPr lang="en-US" b="1" dirty="0"/>
              <a:t>BASIC STEPS IN DIP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45CC2-49D3-BDBD-D615-7B65D62C6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Image enhancement</a:t>
            </a:r>
          </a:p>
          <a:p>
            <a:r>
              <a:rPr lang="en-US" dirty="0"/>
              <a:t>Image restoration</a:t>
            </a:r>
          </a:p>
          <a:p>
            <a:r>
              <a:rPr lang="en-US" dirty="0"/>
              <a:t>Image compression</a:t>
            </a:r>
          </a:p>
          <a:p>
            <a:r>
              <a:rPr lang="en-US" dirty="0"/>
              <a:t>Image segmentation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270498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CAE9D-28B1-D3DD-7C6A-D5FABC101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ENHANCEMENT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DDCC6-52CB-6B07-ACE5-839C1C023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318" y="1825625"/>
            <a:ext cx="10515600" cy="4351338"/>
          </a:xfrm>
        </p:spPr>
        <p:txBody>
          <a:bodyPr/>
          <a:lstStyle/>
          <a:p>
            <a:r>
              <a:rPr lang="en-US" dirty="0"/>
              <a:t>Improves visual appearance</a:t>
            </a:r>
          </a:p>
          <a:p>
            <a:pPr marL="0" indent="0">
              <a:buNone/>
            </a:pPr>
            <a:r>
              <a:rPr lang="en-US" b="1" dirty="0"/>
              <a:t> Techniques: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  Brightness and contrast adjustment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Noise reduction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Sharpening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261835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D7AAC-8573-B59C-015E-30684FE1F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RESTORATION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70DCB-849E-210D-FD87-6D697BB02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Removes distortion /noise from image </a:t>
            </a:r>
          </a:p>
          <a:p>
            <a:r>
              <a:rPr lang="en-US" dirty="0"/>
              <a:t>Based on mathematical models 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> </a:t>
            </a:r>
          </a:p>
          <a:p>
            <a:r>
              <a:rPr lang="en-US" dirty="0"/>
              <a:t>Blurred image correction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822269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BD4F2-F174-3394-0A93-DBF2E4785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IMAGE COMPRESSION?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48E89-48C0-4089-9F46-568129AD2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Reduces image size </a:t>
            </a:r>
          </a:p>
          <a:p>
            <a:r>
              <a:rPr lang="en-US" dirty="0"/>
              <a:t>Saves storage and bandwidth</a:t>
            </a:r>
          </a:p>
          <a:p>
            <a:pPr marL="0" indent="0">
              <a:buNone/>
            </a:pPr>
            <a:r>
              <a:rPr lang="en-US" b="1" dirty="0"/>
              <a:t>Types:</a:t>
            </a:r>
          </a:p>
          <a:p>
            <a:r>
              <a:rPr lang="en-US" dirty="0"/>
              <a:t> Lossy (JPEG)</a:t>
            </a:r>
          </a:p>
          <a:p>
            <a:r>
              <a:rPr lang="en-US" dirty="0"/>
              <a:t>Lossless(PNG)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6350860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E9F2B-B4AC-5281-3FD5-66A6522E2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IMAGE SEGMENTATION?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85EFE-B01D-843E-0CB0-F2AC85954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Divides image into parts/regions </a:t>
            </a:r>
          </a:p>
          <a:p>
            <a:r>
              <a:rPr lang="en-US" dirty="0"/>
              <a:t>Helps identify objects </a:t>
            </a:r>
          </a:p>
          <a:p>
            <a:r>
              <a:rPr lang="en-US" dirty="0"/>
              <a:t>Used in medical imaging face detection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177229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B7A15-300A-8369-8695-5382463CE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DIP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BE46B-A928-16F3-AC28-16ABF18CD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Medical imaging(X-ray)</a:t>
            </a:r>
          </a:p>
          <a:p>
            <a:r>
              <a:rPr lang="en-US" dirty="0"/>
              <a:t>Satellite imaging</a:t>
            </a:r>
          </a:p>
          <a:p>
            <a:r>
              <a:rPr lang="en-US" dirty="0"/>
              <a:t>Face recognition </a:t>
            </a:r>
          </a:p>
          <a:p>
            <a:r>
              <a:rPr lang="en-US" dirty="0"/>
              <a:t>Self driving</a:t>
            </a:r>
            <a:r>
              <a:rPr lang="en-IN" dirty="0"/>
              <a:t> cars</a:t>
            </a:r>
          </a:p>
          <a:p>
            <a:r>
              <a:rPr lang="en-IN" dirty="0"/>
              <a:t>Social media filters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712956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6795B-554D-A12F-8D18-DD6B3A725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SOFTWARE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30AB5-9251-CC9F-F447-6FC2D2D0C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MATLAB</a:t>
            </a:r>
          </a:p>
          <a:p>
            <a:r>
              <a:rPr lang="en-US" dirty="0"/>
              <a:t>Python(open CV)</a:t>
            </a:r>
          </a:p>
          <a:p>
            <a:r>
              <a:rPr lang="en-US" dirty="0"/>
              <a:t>Adobe photoshop</a:t>
            </a:r>
          </a:p>
          <a:p>
            <a:r>
              <a:rPr lang="en-US" dirty="0" err="1"/>
              <a:t>imageJ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133866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4B044-5AC6-78A9-9446-BD8B6F72B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3245F-ABD8-18A1-0427-620DB5678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Improves image quality</a:t>
            </a:r>
          </a:p>
          <a:p>
            <a:r>
              <a:rPr lang="en-US" dirty="0"/>
              <a:t>Easy storage and transmission </a:t>
            </a:r>
          </a:p>
          <a:p>
            <a:r>
              <a:rPr lang="en-US" dirty="0"/>
              <a:t>Helps in automation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6508242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788B4-9621-C3A5-67EF-69ADB335E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334C5-8070-BAD2-B17B-CBB9A5E63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computational cost</a:t>
            </a:r>
          </a:p>
          <a:p>
            <a:r>
              <a:rPr lang="en-US" dirty="0"/>
              <a:t>Requires expertise</a:t>
            </a:r>
          </a:p>
          <a:p>
            <a:r>
              <a:rPr lang="en-US" dirty="0"/>
              <a:t>May loss data in compression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6969658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C8428-E4F5-2600-438D-F3CC31DA9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C8C50-4D66-44DC-D6F0-0C3178A38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Digital image processing is widely used today</a:t>
            </a:r>
          </a:p>
          <a:p>
            <a:r>
              <a:rPr lang="en-US" dirty="0"/>
              <a:t>Play key role in technology and AI</a:t>
            </a:r>
          </a:p>
          <a:p>
            <a:r>
              <a:rPr lang="en-US" dirty="0"/>
              <a:t>Futures scope is very high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284522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AB3F8-8FD7-2A46-DC5F-FAD74F2A4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			</a:t>
            </a:r>
            <a:r>
              <a:rPr lang="en-US" sz="6600" dirty="0"/>
              <a:t>THANK YOU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369052850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147</TotalTime>
  <Words>520</Words>
  <Application>Microsoft Office PowerPoint</Application>
  <PresentationFormat>Widescreen</PresentationFormat>
  <Paragraphs>103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Trebuchet MS</vt:lpstr>
      <vt:lpstr>Wingdings</vt:lpstr>
      <vt:lpstr>Wingdings 3</vt:lpstr>
      <vt:lpstr>Facet</vt:lpstr>
      <vt:lpstr>DIGITAL IMAGE PROCESSING</vt:lpstr>
      <vt:lpstr>WHAT IS DIGITAL IMAGE PROCESSING?</vt:lpstr>
      <vt:lpstr>TYPES OF IMAGES </vt:lpstr>
      <vt:lpstr> WHAT IS BINARY IMAGE?</vt:lpstr>
      <vt:lpstr>WHAT IS GRAYSCLAE IMAGE</vt:lpstr>
      <vt:lpstr>WHAT IS COLOR IMAGE</vt:lpstr>
      <vt:lpstr>WHAT IS MULTISPECTRAL IMAGE ?</vt:lpstr>
      <vt:lpstr>                   BASIC STEPS IN DIP</vt:lpstr>
      <vt:lpstr>IMAGE ENHANCEMENT</vt:lpstr>
      <vt:lpstr>IMAGE RESTORATION </vt:lpstr>
      <vt:lpstr>WHAT IS IMAGE COMPRESSION?</vt:lpstr>
      <vt:lpstr>WHAT IS IMAGE SEGMENTATION?</vt:lpstr>
      <vt:lpstr>APPLICATIONS OF DIP</vt:lpstr>
      <vt:lpstr>TOOLS AND SOFTWARE</vt:lpstr>
      <vt:lpstr>ADVANTAGES</vt:lpstr>
      <vt:lpstr>DISADVANTAGES</vt:lpstr>
      <vt:lpstr>CONCLUSION</vt:lpstr>
      <vt:lpstr>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gpt</dc:creator>
  <cp:lastModifiedBy>gpt</cp:lastModifiedBy>
  <cp:revision>5</cp:revision>
  <dcterms:created xsi:type="dcterms:W3CDTF">2026-03-27T07:35:20Z</dcterms:created>
  <dcterms:modified xsi:type="dcterms:W3CDTF">2026-04-04T05:53:22Z</dcterms:modified>
</cp:coreProperties>
</file>